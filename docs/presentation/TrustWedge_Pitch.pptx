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PRÉSENTATION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TrustWedge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confiance documentaire, vérifiable en un instant.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921240" y="1508760"/>
            <a:ext cx="0" cy="-868680"/>
          </a:xfrm>
          <a:prstGeom prst="line">
            <a:avLst/>
          </a:prstGeom>
          <a:noFill/>
          <a:ln w="15875">
            <a:solidFill>
              <a:srgbClr val="3E8E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21240" y="1508760"/>
            <a:ext cx="1097280" cy="-320040"/>
          </a:xfrm>
          <a:prstGeom prst="line">
            <a:avLst/>
          </a:prstGeom>
          <a:noFill/>
          <a:ln w="15875">
            <a:solidFill>
              <a:srgbClr val="3E8E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1508760"/>
            <a:ext cx="1097280" cy="457200"/>
          </a:xfrm>
          <a:prstGeom prst="line">
            <a:avLst/>
          </a:prstGeom>
          <a:noFill/>
          <a:ln w="15875">
            <a:solidFill>
              <a:srgbClr val="3E8E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1508760"/>
            <a:ext cx="0" cy="960120"/>
          </a:xfrm>
          <a:prstGeom prst="line">
            <a:avLst/>
          </a:prstGeom>
          <a:noFill/>
          <a:ln w="15875">
            <a:solidFill>
              <a:srgbClr val="3E8E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1508760"/>
            <a:ext cx="-1097280" cy="457200"/>
          </a:xfrm>
          <a:prstGeom prst="line">
            <a:avLst/>
          </a:prstGeom>
          <a:noFill/>
          <a:ln w="15875">
            <a:solidFill>
              <a:srgbClr val="3E8E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1508760"/>
            <a:ext cx="-1097280" cy="-320040"/>
          </a:xfrm>
          <a:prstGeom prst="line">
            <a:avLst/>
          </a:prstGeom>
          <a:noFill/>
          <a:ln w="15875">
            <a:solidFill>
              <a:srgbClr val="3E8E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0" y="502920"/>
            <a:ext cx="274320" cy="2743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0" y="502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10881360" y="1051560"/>
            <a:ext cx="274320" cy="2743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88136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10881360" y="1828800"/>
            <a:ext cx="274320" cy="2743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8813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784080" y="2331720"/>
            <a:ext cx="274320" cy="2743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0" y="2331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686800" y="1828800"/>
            <a:ext cx="274320" cy="2743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686800" y="1051560"/>
            <a:ext cx="274320" cy="2743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784080" y="1371600"/>
            <a:ext cx="274320" cy="274320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54864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  ·  2026  ·  Présentation pour l'adoption de la plateforme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un document officiel prend encore</a:t>
            </a:r>
            <a:endParaRPr lang="en-US" sz="2600" dirty="0"/>
          </a:p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trop de temps — et trop de confiance aveugle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211226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employeur ne peut pas confirmer un diplôme rapidement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47802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doit appeler l'université et attendre — parfois plusieurs jours.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93522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titre foncier peut être contesté ou vendu deux fois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3009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Faute de registre unique et consultable par tous les acteurs concernés.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7581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banque met des jours à instruire un dossier de prêt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12394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de vérifier manuellement l'emploi du demandeur.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58114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perdu, c'est une preuve perdue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9469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Surtout si l'institution qui l'a émis a fermé ou changé de système.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54041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citoyen ne contrôle pas ses propres documents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76986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doit transmettre l'original complet pour prouver un simple fait.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RÉPONSE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registre numérique partagé où chaque</a:t>
            </a:r>
            <a:endParaRPr lang="en-US" sz="2600" dirty="0"/>
          </a:p>
          <a:p>
            <a:pPr indent="0" marL="0">
              <a:lnSpc>
                <a:spcPts val="2808"/>
              </a:lnSpc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officiel se vérifie en quelques secondes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dépendre de l'institution qui l'a émis. Sans confier ce registre à un seul acteur. Avec la certitude qu'un document falsifié est immédiatement démasqué.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institution ne détient seule le registre — chaque partenaire en conserve une copie vérifiée.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20040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352044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4206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45720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Consultable même si l'émetteur d'origine change de système, ferme un guichet ou déménage.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80960" y="320040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352044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55280" y="4206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INFALSIFIABLE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0" y="45720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modification, même minime, casse immédiatement la correspondance et se détecte.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— UN STANDARD RECONNU, PAS UNE INVENTION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Émetteur, Détenteur, Vérificateur —</a:t>
            </a:r>
            <a:endParaRPr lang="en-US" sz="2700" dirty="0"/>
          </a:p>
          <a:p>
            <a:pPr indent="0" marL="0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« triangle de confiance »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730752" y="4074566"/>
            <a:ext cx="2798064" cy="-1925726"/>
          </a:xfrm>
          <a:prstGeom prst="line">
            <a:avLst/>
          </a:prstGeom>
          <a:noFill/>
          <a:ln w="22225">
            <a:solidFill>
              <a:srgbClr val="3E8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94099" y="4206240"/>
            <a:ext cx="4173322" cy="0"/>
          </a:xfrm>
          <a:prstGeom prst="line">
            <a:avLst/>
          </a:prstGeom>
          <a:noFill/>
          <a:ln w="22225">
            <a:solidFill>
              <a:srgbClr val="3E8E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9904" y="2280514"/>
            <a:ext cx="2779776" cy="1925726"/>
          </a:xfrm>
          <a:prstGeom prst="line">
            <a:avLst/>
          </a:prstGeom>
          <a:noFill/>
          <a:ln w="15875">
            <a:solidFill>
              <a:srgbClr val="8A95A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142232" y="27203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émet →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92040" y="4297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 → (avec consentement)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14032" y="288493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la signature via le registre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50992" y="1709928"/>
            <a:ext cx="877824" cy="8778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5650992" y="1709928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01184" y="26426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ÉMETTEUR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28803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(Issuer)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18304" y="31181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Délivre et signe numériquement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52928" y="3767328"/>
            <a:ext cx="877824" cy="877824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2852928" y="3767328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03120" y="4700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DÉTENTEUR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03120" y="4937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(Holder)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20240" y="51755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citoyen, seul à décider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qui le partager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30768" y="3767328"/>
            <a:ext cx="877824" cy="877824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8430768" y="3767328"/>
            <a:ext cx="8778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0960" y="4700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VÉRIFICATEUR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80960" y="4937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(Verifier)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0" y="51755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l'authenticité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quelques secondes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98932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053328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« triangle de confiance » est le modèle de référence de l'identité auto-souveraine (Self-Sovereign Identity), au cœur du standard W3C Verifiable Credentials — TrustWedge s'appuie sur ce cadre reconnu internationalement, pas sur un protocole propriétaire.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INTERVIENT LA BLOCKCHAIN, CONCRÈTEMENT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moments précis : l'enregistrement d'une preuve,</a:t>
            </a:r>
            <a:endParaRPr lang="en-US" sz="2200" dirty="0"/>
          </a:p>
          <a:p>
            <a:pPr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l'appel de vérification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71016" y="1728216"/>
            <a:ext cx="841248" cy="8412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1271016" y="1728216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660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ÉMETTEUR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03536" y="1728216"/>
            <a:ext cx="841248" cy="841248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8" name="Text 6"/>
          <p:cNvSpPr/>
          <p:nvPr/>
        </p:nvSpPr>
        <p:spPr>
          <a:xfrm>
            <a:off x="10003536" y="1728216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18320" y="26609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VÉRIFICATEUR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14416" y="2770632"/>
            <a:ext cx="950976" cy="950976"/>
          </a:xfrm>
          <a:prstGeom prst="hexagon">
            <a:avLst/>
          </a:prstGeom>
          <a:solidFill>
            <a:srgbClr val="B8925A"/>
          </a:solidFill>
          <a:ln/>
        </p:spPr>
      </p:sp>
      <p:sp>
        <p:nvSpPr>
          <p:cNvPr id="11" name="Text 9"/>
          <p:cNvSpPr/>
          <p:nvPr/>
        </p:nvSpPr>
        <p:spPr>
          <a:xfrm>
            <a:off x="5431536" y="3026664"/>
            <a:ext cx="13167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24144" y="4251960"/>
            <a:ext cx="731520" cy="7315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5724144" y="4251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01184" y="5074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DÉTENTEUR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4115" y="2261724"/>
            <a:ext cx="3440081" cy="858232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26996" y="2352512"/>
            <a:ext cx="274320" cy="2743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3726996" y="2352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98297" y="2377109"/>
            <a:ext cx="3632792" cy="2039197"/>
          </a:xfrm>
          <a:prstGeom prst="line">
            <a:avLst/>
          </a:prstGeom>
          <a:noFill/>
          <a:ln w="25400">
            <a:solidFill>
              <a:srgbClr val="8A95A5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57493" y="3259548"/>
            <a:ext cx="274320" cy="274320"/>
          </a:xfrm>
          <a:prstGeom prst="ellipse">
            <a:avLst/>
          </a:prstGeom>
          <a:solidFill>
            <a:srgbClr val="8A95A5"/>
          </a:solidFill>
          <a:ln/>
        </p:spPr>
      </p:sp>
      <p:sp>
        <p:nvSpPr>
          <p:cNvPr id="20" name="Text 18"/>
          <p:cNvSpPr/>
          <p:nvPr/>
        </p:nvSpPr>
        <p:spPr>
          <a:xfrm>
            <a:off x="3457493" y="32595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7447" y="2379659"/>
            <a:ext cx="3571498" cy="2034398"/>
          </a:xfrm>
          <a:prstGeom prst="line">
            <a:avLst/>
          </a:prstGeom>
          <a:noFill/>
          <a:ln w="25400">
            <a:solidFill>
              <a:srgbClr val="8A95A5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16076" y="3259698"/>
            <a:ext cx="274320" cy="274320"/>
          </a:xfrm>
          <a:prstGeom prst="ellipse">
            <a:avLst/>
          </a:prstGeom>
          <a:solidFill>
            <a:srgbClr val="8A95A5"/>
          </a:solidFill>
          <a:ln/>
        </p:spPr>
      </p:sp>
      <p:sp>
        <p:nvSpPr>
          <p:cNvPr id="23" name="Text 21"/>
          <p:cNvSpPr/>
          <p:nvPr/>
        </p:nvSpPr>
        <p:spPr>
          <a:xfrm>
            <a:off x="8416076" y="325969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95172" y="2263291"/>
            <a:ext cx="3376907" cy="854913"/>
          </a:xfrm>
          <a:prstGeom prst="line">
            <a:avLst/>
          </a:prstGeom>
          <a:noFill/>
          <a:ln w="25400">
            <a:solidFill>
              <a:srgbClr val="0C5C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439073" y="2279268"/>
            <a:ext cx="274320" cy="2743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6" name="Text 24"/>
          <p:cNvSpPr/>
          <p:nvPr/>
        </p:nvSpPr>
        <p:spPr>
          <a:xfrm>
            <a:off x="8439073" y="22792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27064" y="2523744"/>
            <a:ext cx="3739896" cy="292608"/>
          </a:xfrm>
          <a:prstGeom prst="line">
            <a:avLst/>
          </a:prstGeom>
          <a:noFill/>
          <a:ln w="25400">
            <a:solidFill>
              <a:srgbClr val="B8925A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59952" y="2816352"/>
            <a:ext cx="274320" cy="274320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29" name="Text 27"/>
          <p:cNvSpPr/>
          <p:nvPr/>
        </p:nvSpPr>
        <p:spPr>
          <a:xfrm>
            <a:off x="8759952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274320" cy="2743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806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5760720"/>
            <a:ext cx="2221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2688" y="596188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 le document, enregistre une empreinte (hash) sur la blockchain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19272" y="5806440"/>
            <a:ext cx="274320" cy="274320"/>
          </a:xfrm>
          <a:prstGeom prst="ellipse">
            <a:avLst/>
          </a:prstGeom>
          <a:solidFill>
            <a:srgbClr val="8A95A5"/>
          </a:solidFill>
          <a:ln/>
        </p:spPr>
      </p:sp>
      <p:sp>
        <p:nvSpPr>
          <p:cNvPr id="35" name="Text 33"/>
          <p:cNvSpPr/>
          <p:nvPr/>
        </p:nvSpPr>
        <p:spPr>
          <a:xfrm>
            <a:off x="3319272" y="5806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03320" y="5760720"/>
            <a:ext cx="2221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03320" y="596188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circule hors blockchain — jamais stocké sur la chaîne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89904" y="5806440"/>
            <a:ext cx="274320" cy="2743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39" name="Text 37"/>
          <p:cNvSpPr/>
          <p:nvPr/>
        </p:nvSpPr>
        <p:spPr>
          <a:xfrm>
            <a:off x="6089904" y="5806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73952" y="5760720"/>
            <a:ext cx="2221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73952" y="596188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vérificateur interroge la blockchain : la preuve correspond-elle 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860536" y="5806440"/>
            <a:ext cx="274320" cy="274320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43" name="Text 41"/>
          <p:cNvSpPr/>
          <p:nvPr/>
        </p:nvSpPr>
        <p:spPr>
          <a:xfrm>
            <a:off x="8860536" y="5806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244584" y="5760720"/>
            <a:ext cx="2221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244584" y="5961888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8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instantanée : ✓ authentique ou ✕ falsifié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MARCHE, SIMPLEMENT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étapes, sans jargon technique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3172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30175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355848"/>
            <a:ext cx="19751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ÉMETTEUR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3657600"/>
            <a:ext cx="19751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institution (université, banque, État…) délivre un document officiel numérique.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3602736"/>
            <a:ext cx="201168" cy="201168"/>
          </a:xfrm>
          <a:prstGeom prst="chevron">
            <a:avLst/>
          </a:prstGeom>
          <a:solidFill>
            <a:srgbClr val="B8925A"/>
          </a:solidFill>
          <a:ln/>
        </p:spPr>
      </p:sp>
      <p:sp>
        <p:nvSpPr>
          <p:cNvPr id="11" name="Shape 9"/>
          <p:cNvSpPr/>
          <p:nvPr/>
        </p:nvSpPr>
        <p:spPr>
          <a:xfrm>
            <a:off x="3236976" y="205740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233172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93008" y="30175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93008" y="3355848"/>
            <a:ext cx="19751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DÉTENTEUR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93008" y="3657600"/>
            <a:ext cx="19751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citoyen le reçoit dans son coffre-fort numérique personnel, sur son téléphone.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05856" y="3602736"/>
            <a:ext cx="201168" cy="201168"/>
          </a:xfrm>
          <a:prstGeom prst="chevron">
            <a:avLst/>
          </a:prstGeom>
          <a:solidFill>
            <a:srgbClr val="B8925A"/>
          </a:solidFill>
          <a:ln/>
        </p:spPr>
      </p:sp>
      <p:sp>
        <p:nvSpPr>
          <p:cNvPr id="18" name="Shape 16"/>
          <p:cNvSpPr/>
          <p:nvPr/>
        </p:nvSpPr>
        <p:spPr>
          <a:xfrm>
            <a:off x="5925312" y="205740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233172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81344" y="30175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81344" y="3355848"/>
            <a:ext cx="19751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VÉRIFICATEUR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81344" y="3657600"/>
            <a:ext cx="19751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organisation autorisée le vérifie en quelques secondes, où qu'elle se trouve.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94192" y="3602736"/>
            <a:ext cx="201168" cy="201168"/>
          </a:xfrm>
          <a:prstGeom prst="chevron">
            <a:avLst/>
          </a:prstGeom>
          <a:solidFill>
            <a:srgbClr val="B8925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13648" y="2057400"/>
            <a:ext cx="2487168" cy="3291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0" y="233172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7" name="Text 25"/>
          <p:cNvSpPr/>
          <p:nvPr/>
        </p:nvSpPr>
        <p:spPr>
          <a:xfrm>
            <a:off x="88696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69680" y="301752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869680" y="3429000"/>
            <a:ext cx="19751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tentative de modification, même minime, est immédiatement détectée.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EXEMPLE DE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circuit d'une demande de vérification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0C5C5C"/>
          </a:solidFill>
          <a:ln w="12700">
            <a:solidFill>
              <a:srgbClr val="0C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762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Demande envoyée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4203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9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citoyen sollicite la vérification d'un document auprès d'un acteur désigné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201168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1762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 attente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254203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9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apparaît immédiatement dans le tableau de bord de l'acteur sollicité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6092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0" y="201168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0C5C5C"/>
          </a:solidFill>
          <a:ln w="12700">
            <a:solidFill>
              <a:srgbClr val="0C5C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1762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Décision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09560" y="2542032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9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L'acteur accepte ou refuse la demande, avec un commentaire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04020" y="3383280"/>
            <a:ext cx="-5737860" cy="777240"/>
          </a:xfrm>
          <a:prstGeom prst="line">
            <a:avLst/>
          </a:prstGeom>
          <a:noFill/>
          <a:ln w="19050">
            <a:solidFill>
              <a:srgbClr val="0C5C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4020" y="3383280"/>
            <a:ext cx="-708660" cy="777240"/>
          </a:xfrm>
          <a:prstGeom prst="line">
            <a:avLst/>
          </a:prstGeom>
          <a:noFill/>
          <a:ln w="19050">
            <a:solidFill>
              <a:srgbClr val="B448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41605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6F9FB"/>
          </a:solidFill>
          <a:ln w="12700">
            <a:solidFill>
              <a:srgbClr val="0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43251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48840" y="469087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mis à jour instantanément, visible par toutes les parties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49440" y="41605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6F9FB"/>
          </a:solidFill>
          <a:ln w="12700">
            <a:solidFill>
              <a:srgbClr val="B448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43251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Refusé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469087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communiqué, le demandeur peut corriger et renvoyer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BLOCKCHAIN — SANS JARGON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preuve mathématique,</a:t>
            </a:r>
            <a:endParaRPr lang="en-US" sz="2700" dirty="0"/>
          </a:p>
          <a:p>
            <a:pPr indent="0" marL="0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une promesse d'un seul acteur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500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REGISTRE, VU DE L'INTÉRIEUR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3246120"/>
            <a:ext cx="1920240" cy="1188720"/>
          </a:xfrm>
          <a:prstGeom prst="line">
            <a:avLst/>
          </a:prstGeom>
          <a:noFill/>
          <a:ln w="15875">
            <a:solidFill>
              <a:srgbClr val="3E8E8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108960" y="3246120"/>
            <a:ext cx="1463040" cy="1188720"/>
          </a:xfrm>
          <a:prstGeom prst="line">
            <a:avLst/>
          </a:prstGeom>
          <a:noFill/>
          <a:ln w="15875">
            <a:solidFill>
              <a:srgbClr val="3E8E8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188720" y="4434840"/>
            <a:ext cx="1920240" cy="914400"/>
          </a:xfrm>
          <a:prstGeom prst="line">
            <a:avLst/>
          </a:prstGeom>
          <a:noFill/>
          <a:ln w="15875">
            <a:solidFill>
              <a:srgbClr val="3E8E8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108960" y="4434840"/>
            <a:ext cx="1463040" cy="914400"/>
          </a:xfrm>
          <a:prstGeom prst="line">
            <a:avLst/>
          </a:prstGeom>
          <a:noFill/>
          <a:ln w="15875">
            <a:solidFill>
              <a:srgbClr val="3E8E8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68680" y="292608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3584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292608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86200" y="3584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Notaire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51960" y="50292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86200" y="5687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88920" y="4114800"/>
            <a:ext cx="640080" cy="640080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286000" y="47731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148840"/>
            <a:ext cx="365760" cy="36576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56832" y="2103120"/>
            <a:ext cx="496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contrôle seul le registre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56832" y="2468880"/>
            <a:ext cx="4965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institution partenaire en fait partie, à égalité.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3136392"/>
            <a:ext cx="365760" cy="36576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136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56832" y="3090672"/>
            <a:ext cx="496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falsification est démasquée aussitôt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56832" y="3456432"/>
            <a:ext cx="4965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 seul détail casse l'empreinte et rompt la correspondance.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26480" y="4123944"/>
            <a:ext cx="365760" cy="36576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56832" y="4078224"/>
            <a:ext cx="496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Consultable même si un acteur disparaît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56832" y="4443984"/>
            <a:ext cx="4965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registre survit à la fermeture d'un guichet ou un changement de système.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26480" y="5111496"/>
            <a:ext cx="365760" cy="36576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5111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56832" y="5065776"/>
            <a:ext cx="496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tiers indépendant peut auditer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56832" y="5431536"/>
            <a:ext cx="4965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jamais avoir à faire confiance à l'opérateur de la plateforme.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EXISTE DÉJÀ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16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une promesse — un produit qui fonctionne aujourd'hui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67128"/>
            <a:ext cx="3401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9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spc="50" kern="0" dirty="0">
                <a:solidFill>
                  <a:srgbClr val="D9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DOCUMENTS OFFICIELS COUVERTS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61104" y="1965960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61104" y="2167128"/>
            <a:ext cx="3401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9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35424" y="3017520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spc="50" kern="0" dirty="0">
                <a:solidFill>
                  <a:srgbClr val="D9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INSTITUTIONNELS INTERCONNECTÉS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73568" y="1965960"/>
            <a:ext cx="3401568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73568" y="2167128"/>
            <a:ext cx="3401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9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47888" y="3017520"/>
            <a:ext cx="2852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spc="50" kern="0" dirty="0">
                <a:solidFill>
                  <a:srgbClr val="D9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FALSIFICATIONS DÉTECTÉES EN TEST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79392"/>
            <a:ext cx="10451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démontre un cycle de confiance complet 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663440"/>
            <a:ext cx="10451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 d'un diplôme par une université  →  vérification par un employeur  →  attestation d'emploi  →  dossier de prêt instruit par une banque  →  vente d'un titre foncier sécurisée par un notaire.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EXEMPLE CONCRET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d'Alice, de bout en bout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C5C5C"/>
          </a:solidFill>
          <a:ln w="12700">
            <a:solidFill>
              <a:srgbClr val="0C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50592"/>
            <a:ext cx="16916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 émis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96312" y="2880360"/>
            <a:ext cx="182880" cy="182880"/>
          </a:xfrm>
          <a:prstGeom prst="chevron">
            <a:avLst/>
          </a:prstGeom>
          <a:solidFill>
            <a:srgbClr val="B8925A"/>
          </a:solidFill>
          <a:ln/>
        </p:spPr>
      </p:sp>
      <p:sp>
        <p:nvSpPr>
          <p:cNvPr id="7" name="Shape 5"/>
          <p:cNvSpPr/>
          <p:nvPr/>
        </p:nvSpPr>
        <p:spPr>
          <a:xfrm>
            <a:off x="2679192" y="2286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2450592"/>
            <a:ext cx="16916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 par un employeur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26864" y="2880360"/>
            <a:ext cx="182880" cy="182880"/>
          </a:xfrm>
          <a:prstGeom prst="chevron">
            <a:avLst/>
          </a:prstGeom>
          <a:solidFill>
            <a:srgbClr val="B8925A"/>
          </a:solidFill>
          <a:ln/>
        </p:spPr>
      </p:sp>
      <p:sp>
        <p:nvSpPr>
          <p:cNvPr id="10" name="Shape 8"/>
          <p:cNvSpPr/>
          <p:nvPr/>
        </p:nvSpPr>
        <p:spPr>
          <a:xfrm>
            <a:off x="4809744" y="2286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C5C5C"/>
          </a:solidFill>
          <a:ln w="12700">
            <a:solidFill>
              <a:srgbClr val="0C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46904" y="2450592"/>
            <a:ext cx="16916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d'emploi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57416" y="2880360"/>
            <a:ext cx="182880" cy="182880"/>
          </a:xfrm>
          <a:prstGeom prst="chevron">
            <a:avLst/>
          </a:prstGeom>
          <a:solidFill>
            <a:srgbClr val="B8925A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0296" y="2286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77456" y="2450592"/>
            <a:ext cx="16916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accordé par la banque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87968" y="2880360"/>
            <a:ext cx="182880" cy="182880"/>
          </a:xfrm>
          <a:prstGeom prst="chevron">
            <a:avLst/>
          </a:prstGeom>
          <a:solidFill>
            <a:srgbClr val="B8925A"/>
          </a:solidFill>
          <a:ln/>
        </p:spPr>
      </p:sp>
      <p:sp>
        <p:nvSpPr>
          <p:cNvPr id="16" name="Shape 14"/>
          <p:cNvSpPr/>
          <p:nvPr/>
        </p:nvSpPr>
        <p:spPr>
          <a:xfrm>
            <a:off x="9070848" y="22860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0C5C5C"/>
          </a:solidFill>
          <a:ln w="12700">
            <a:solidFill>
              <a:srgbClr val="0C5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08008" y="2450592"/>
            <a:ext cx="16916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d'un terrain sécurisé (notaire)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416052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s'exécute en quelques minutes, pas en plusieurs semaines — et chaque acteur (université, entreprise, banque, notaire) vérifie indépendamment ce qui le concerne, sans jamais avoir à appeler qui que ce soit.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EN BÉNÉFICIE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avantage concret pour chaque acteur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585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Leurs diplômes ne peuvent plus être falsifiés ni contestés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8536" y="19659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224028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48656" y="22585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2856" y="29260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Recrutement plus rapide, vérification d'un CV en quelques secondes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28432" y="19659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24028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88552" y="22585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29260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de prêt instruits plus vite, moins de risque de fraude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3159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Notaires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983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Transferts de propriété sécurisés, sans double vente possible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88536" y="40233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429768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48656" y="43159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Citoyens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62856" y="4983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total sur leurs documents, et vérification d'un titre avant achat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28432" y="402336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4297680"/>
            <a:ext cx="502920" cy="50292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988552" y="43159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02752" y="4983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registre national infalsifiable, auditable indépendamment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ET LANCEMENT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pilote ciblé avant l'échelle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9385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émettrices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22677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Universités, employeurs, administrations (titres fonciers, état civil, pièces d'identité)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7157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vérificatrices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88720" y="30449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Entreprises, banques et institutions de microfinance, notaires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11480" cy="41148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49300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Citoyens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88720" y="3822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Détenteurs de documents, mais aussi acheteurs vérifiant un titre foncier avant de s'engager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537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DE LANCEMENT RECOMMANDÉ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919472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9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trio pilote université + banque/institution de microfinance + notaire, pour démontrer le cycle complet diplôme → emploi → prêt sur un périmètre restreint et mesurable.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démonstration au déploiement national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2606040"/>
            <a:ext cx="10634472" cy="0"/>
          </a:xfrm>
          <a:prstGeom prst="line">
            <a:avLst/>
          </a:prstGeom>
          <a:noFill/>
          <a:ln w="381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2478024"/>
            <a:ext cx="256032" cy="256032"/>
          </a:xfrm>
          <a:prstGeom prst="ellipse">
            <a:avLst/>
          </a:prstGeom>
          <a:solidFill>
            <a:srgbClr val="B8925A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2478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2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64408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fonctionnel et démontrable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76118" y="2478024"/>
            <a:ext cx="256032" cy="256032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0" name="Text 8"/>
          <p:cNvSpPr/>
          <p:nvPr/>
        </p:nvSpPr>
        <p:spPr>
          <a:xfrm>
            <a:off x="2776118" y="2478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2" dirty="0"/>
          </a:p>
        </p:txBody>
      </p:sp>
      <p:sp>
        <p:nvSpPr>
          <p:cNvPr id="11" name="Text 9"/>
          <p:cNvSpPr/>
          <p:nvPr/>
        </p:nvSpPr>
        <p:spPr>
          <a:xfrm>
            <a:off x="1989734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89734" y="3264408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production sécurisée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03013" y="2478024"/>
            <a:ext cx="256032" cy="256032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903013" y="2478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2" dirty="0"/>
          </a:p>
        </p:txBody>
      </p:sp>
      <p:sp>
        <p:nvSpPr>
          <p:cNvPr id="15" name="Text 13"/>
          <p:cNvSpPr/>
          <p:nvPr/>
        </p:nvSpPr>
        <p:spPr>
          <a:xfrm>
            <a:off x="4116629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/ moyen terme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6629" y="3264408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grandeur réelle (1 université + 1 banque + 1 notaire)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29907" y="2478024"/>
            <a:ext cx="256032" cy="256032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7029907" y="2478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2" dirty="0"/>
          </a:p>
        </p:txBody>
      </p:sp>
      <p:sp>
        <p:nvSpPr>
          <p:cNvPr id="19" name="Text 17"/>
          <p:cNvSpPr/>
          <p:nvPr/>
        </p:nvSpPr>
        <p:spPr>
          <a:xfrm>
            <a:off x="6243523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3523" y="3264408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foncière à l'échelle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56802" y="2478024"/>
            <a:ext cx="256032" cy="256032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9156802" y="2478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2" dirty="0"/>
          </a:p>
        </p:txBody>
      </p:sp>
      <p:sp>
        <p:nvSpPr>
          <p:cNvPr id="23" name="Text 21"/>
          <p:cNvSpPr/>
          <p:nvPr/>
        </p:nvSpPr>
        <p:spPr>
          <a:xfrm>
            <a:off x="8370418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70418" y="3264408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partagée entre institutions partenaires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ANTICIPONS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40"/>
              </a:lnSpc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Adopter sans tout changer d'un coup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se fait en douceur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avec les processus papier existants pendant le pilote.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210312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377440"/>
            <a:ext cx="457200" cy="45720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juridique est traité en amont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63640" y="3063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engagé avec les autorités compétentes avant tout déploiement.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343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institution ne perd la main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gouvernance du registre est partagée entre partenaires, pas confiée à un seul opérateur.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40690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6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343400"/>
            <a:ext cx="457200" cy="457200"/>
          </a:xfrm>
          <a:prstGeom prst="ellipse">
            <a:avLst/>
          </a:prstGeom>
          <a:solidFill>
            <a:srgbClr val="0C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4343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partenaire garde un droit de regard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6364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gouvernance et de sortie définies contractuellement dès le départ.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Rejoignez le pilote TrustWedge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221284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une à trois institutions pilotes prêtes à un test grandeur réelle limité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08152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une démonstration guidée à partir d'un cas concret plutôt qu'un discours technique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95020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ensemble : temps de vérification, taux d'adoption, incidents de sécurité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81888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4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les résultats comme preuve de traction pour l'extension à d'autres institutions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TrustWedge — La confiance documentaire, vérifiable en un instant.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: [à compléter par le porteur de projet]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2026-09-15T13:00:33Z</dcterms:created>
  <dcterms:modified xsi:type="dcterms:W3CDTF">2026-09-15T13:00:33Z</dcterms:modified>
</cp:coreProperties>
</file>